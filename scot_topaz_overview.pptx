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6C63FF"/>
        </a:solidFill>
        <a:effectLst/>
      </p:bgPr>
    </p:bg>
    <p:spTree>
      <p:nvGrpSpPr>
        <p:cNvPr id="1" name=""/>
        <p:cNvGrpSpPr/>
        <p:nvPr/>
      </p:nvGrpSpPr>
      <p:grpSpPr/>
      <p:sp>
        <p:nvSpPr>
          <p:cNvPr id="2" name="TextBox 1"/>
          <p:cNvSpPr txBox="1"/>
          <p:nvPr/>
        </p:nvSpPr>
        <p:spPr>
          <a:xfrm>
            <a:off x="914400" y="1828800"/>
            <a:ext cx="10360152" cy="1828800"/>
          </a:xfrm>
          <a:prstGeom prst="rect">
            <a:avLst/>
          </a:prstGeom>
          <a:noFill/>
        </p:spPr>
        <p:txBody>
          <a:bodyPr wrap="square">
            <a:spAutoFit/>
          </a:bodyPr>
          <a:lstStyle/>
          <a:p>
            <a:pPr algn="ctr">
              <a:defRPr sz="6400" b="1">
                <a:solidFill>
                  <a:srgbClr val="FFFDF9"/>
                </a:solidFill>
                <a:latin typeface="Georgia"/>
              </a:defRPr>
            </a:pPr>
            <a:r>
              <a:t>SCOT TOPAZ</a:t>
            </a:r>
          </a:p>
        </p:txBody>
      </p:sp>
      <p:sp>
        <p:nvSpPr>
          <p:cNvPr id="3" name="TextBox 2"/>
          <p:cNvSpPr txBox="1"/>
          <p:nvPr/>
        </p:nvSpPr>
        <p:spPr>
          <a:xfrm>
            <a:off x="914400" y="3108960"/>
            <a:ext cx="10360152" cy="1371600"/>
          </a:xfrm>
          <a:prstGeom prst="rect">
            <a:avLst/>
          </a:prstGeom>
          <a:noFill/>
        </p:spPr>
        <p:txBody>
          <a:bodyPr wrap="square">
            <a:spAutoFit/>
          </a:bodyPr>
          <a:lstStyle/>
          <a:p>
            <a:pPr algn="ctr">
              <a:defRPr sz="2200">
                <a:solidFill>
                  <a:srgbClr val="4ECDC4"/>
                </a:solidFill>
                <a:latin typeface="Arial"/>
              </a:defRPr>
            </a:pPr>
            <a:r>
              <a:t>Community Operations &amp; Management Platform Overview</a:t>
            </a:r>
          </a:p>
        </p:txBody>
      </p:sp>
      <p:sp>
        <p:nvSpPr>
          <p:cNvPr id="4" name="TextBox 3"/>
          <p:cNvSpPr txBox="1"/>
          <p:nvPr/>
        </p:nvSpPr>
        <p:spPr>
          <a:xfrm>
            <a:off x="914400" y="5303520"/>
            <a:ext cx="10360152" cy="914400"/>
          </a:xfrm>
          <a:prstGeom prst="rect">
            <a:avLst/>
          </a:prstGeom>
          <a:noFill/>
        </p:spPr>
        <p:txBody>
          <a:bodyPr wrap="none">
            <a:spAutoFit/>
          </a:bodyPr>
          <a:lstStyle/>
          <a:p>
            <a:pPr algn="ctr">
              <a:defRPr sz="1400">
                <a:solidFill>
                  <a:srgbClr val="FFFDF9"/>
                </a:solidFill>
                <a:latin typeface="Arial"/>
              </a:defRPr>
            </a:pPr>
            <a:r>
              <a:t>Prepared for the SCOT Team • Sports &amp; Cultural Organizers of Topaz</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DF9"/>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sz="3600" b="1">
                <a:solidFill>
                  <a:srgbClr val="6C63FF"/>
                </a:solidFill>
                <a:latin typeface="Georgia"/>
              </a:defRPr>
            </a:pPr>
            <a:r>
              <a:t>The Vision: Community-First Operations</a:t>
            </a:r>
          </a:p>
        </p:txBody>
      </p:sp>
      <p:sp>
        <p:nvSpPr>
          <p:cNvPr id="3" name="Rectangle 2"/>
          <p:cNvSpPr/>
          <p:nvPr/>
        </p:nvSpPr>
        <p:spPr>
          <a:xfrm>
            <a:off x="685800" y="1188720"/>
            <a:ext cx="10817352" cy="36576"/>
          </a:xfrm>
          <a:prstGeom prst="rect">
            <a:avLst/>
          </a:prstGeom>
          <a:solidFill>
            <a:srgbClr val="4ECDC4"/>
          </a:solidFill>
          <a:ln>
            <a:solidFill>
              <a:srgbClr val="4ECD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45920"/>
            <a:ext cx="10817352" cy="4572000"/>
          </a:xfrm>
          <a:prstGeom prst="rect">
            <a:avLst/>
          </a:prstGeom>
          <a:noFill/>
        </p:spPr>
        <p:txBody>
          <a:bodyPr wrap="square">
            <a:spAutoFit/>
          </a:bodyPr>
          <a:lstStyle/>
          <a:p>
            <a:pPr>
              <a:spcAft>
                <a:spcPts val="1400"/>
              </a:spcAft>
            </a:pPr>
            <a:r>
              <a:rPr b="1" sz="2000">
                <a:solidFill>
                  <a:srgbClr val="6C63FF"/>
                </a:solidFill>
                <a:latin typeface="Arial"/>
              </a:rPr>
              <a:t>Moving Beyond Spreadsheets: </a:t>
            </a:r>
            <a:r>
              <a:rPr sz="1800">
                <a:solidFill>
                  <a:srgbClr val="2C3E50"/>
                </a:solidFill>
                <a:latin typeface="Arial"/>
              </a:rPr>
              <a:t>Replacing fragmented WhatsApp chats, paper receipts, and spreadsheets with a single, synchronized platform.</a:t>
            </a:r>
          </a:p>
          <a:p>
            <a:pPr>
              <a:spcAft>
                <a:spcPts val="1400"/>
              </a:spcAft>
            </a:pPr>
            <a:r>
              <a:rPr b="1" sz="2000">
                <a:solidFill>
                  <a:srgbClr val="6C63FF"/>
                </a:solidFill>
                <a:latin typeface="Arial"/>
              </a:rPr>
              <a:t>Playful, Colorful Identity: </a:t>
            </a:r>
            <a:r>
              <a:rPr sz="1800">
                <a:solidFill>
                  <a:srgbClr val="2C3E50"/>
                </a:solidFill>
                <a:latin typeface="Arial"/>
              </a:rPr>
              <a:t>Built with a warm, colorful, and highly approachable UI/UX. The theme represents community spirit, leaving dark tables behind.</a:t>
            </a:r>
          </a:p>
          <a:p>
            <a:pPr>
              <a:spcAft>
                <a:spcPts val="1400"/>
              </a:spcAft>
            </a:pPr>
            <a:r>
              <a:rPr b="1" sz="2000">
                <a:solidFill>
                  <a:srgbClr val="6C63FF"/>
                </a:solidFill>
                <a:latin typeface="Arial"/>
              </a:rPr>
              <a:t>Self-Service Resident Hub: </a:t>
            </a:r>
            <a:r>
              <a:rPr sz="1800">
                <a:solidFill>
                  <a:srgbClr val="2C3E50"/>
                </a:solidFill>
                <a:latin typeface="Arial"/>
              </a:rPr>
              <a:t>Empowers society members to log in, track dues, verify eligibility, sign up for events, and see tournament scores.</a:t>
            </a:r>
          </a:p>
          <a:p>
            <a:pPr>
              <a:spcAft>
                <a:spcPts val="1400"/>
              </a:spcAft>
            </a:pPr>
            <a:r>
              <a:rPr b="1" sz="2000">
                <a:solidFill>
                  <a:srgbClr val="6C63FF"/>
                </a:solidFill>
                <a:latin typeface="Arial"/>
              </a:rPr>
              <a:t>Organizers Control Console: </a:t>
            </a:r>
            <a:r>
              <a:rPr sz="1800">
                <a:solidFill>
                  <a:srgbClr val="2C3E50"/>
                </a:solidFill>
                <a:latin typeface="Arial"/>
              </a:rPr>
              <a:t>Provides tools for the SCOT Admin, Core Team, Wing Commanders, and Event Champions to manage society activities seamlessly.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DF9"/>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sz="3600" b="1">
                <a:solidFill>
                  <a:srgbClr val="6C63FF"/>
                </a:solidFill>
                <a:latin typeface="Georgia"/>
              </a:defRPr>
            </a:pPr>
            <a:r>
              <a:t>App Core Features Directory</a:t>
            </a:r>
          </a:p>
        </p:txBody>
      </p:sp>
      <p:sp>
        <p:nvSpPr>
          <p:cNvPr id="3" name="Rectangle 2"/>
          <p:cNvSpPr/>
          <p:nvPr/>
        </p:nvSpPr>
        <p:spPr>
          <a:xfrm>
            <a:off x="685800" y="1188720"/>
            <a:ext cx="10817352" cy="36576"/>
          </a:xfrm>
          <a:prstGeom prst="rect">
            <a:avLst/>
          </a:prstGeom>
          <a:solidFill>
            <a:srgbClr val="4ECDC4"/>
          </a:solidFill>
          <a:ln>
            <a:solidFill>
              <a:srgbClr val="4ECD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45920"/>
            <a:ext cx="5120640" cy="4572000"/>
          </a:xfrm>
          <a:prstGeom prst="rect">
            <a:avLst/>
          </a:prstGeom>
          <a:noFill/>
        </p:spPr>
        <p:txBody>
          <a:bodyPr wrap="square">
            <a:spAutoFit/>
          </a:bodyPr>
          <a:lstStyle/>
          <a:p>
            <a:pPr>
              <a:spcAft>
                <a:spcPts val="1400"/>
              </a:spcAft>
              <a:defRPr sz="2200" b="1">
                <a:solidFill>
                  <a:srgbClr val="6C63FF"/>
                </a:solidFill>
                <a:latin typeface="Georgia"/>
              </a:defRPr>
            </a:pPr>
            <a:r>
              <a:t>RESIDENT HUB</a:t>
            </a:r>
          </a:p>
          <a:p>
            <a:pPr lvl="1">
              <a:spcAft>
                <a:spcPts val="1400"/>
              </a:spcAft>
            </a:pPr>
            <a:r>
              <a:rPr b="1" sz="2000">
                <a:solidFill>
                  <a:srgbClr val="6C63FF"/>
                </a:solidFill>
                <a:latin typeface="Arial"/>
              </a:rPr>
              <a:t>Dues &amp; Maintenance Tracker: </a:t>
            </a:r>
            <a:r>
              <a:rPr sz="1800">
                <a:solidFill>
                  <a:srgbClr val="2C3E50"/>
                </a:solidFill>
                <a:latin typeface="Arial"/>
              </a:rPr>
              <a:t>Instant display of flat-specific dues (Paid vs Pending) for the active season.</a:t>
            </a:r>
          </a:p>
          <a:p>
            <a:pPr lvl="1">
              <a:spcAft>
                <a:spcPts val="1400"/>
              </a:spcAft>
            </a:pPr>
            <a:r>
              <a:rPr b="1" sz="2000">
                <a:solidFill>
                  <a:srgbClr val="6C63FF"/>
                </a:solidFill>
                <a:latin typeface="Arial"/>
              </a:rPr>
              <a:t>Event Registrations Gate: </a:t>
            </a:r>
            <a:r>
              <a:rPr sz="1800">
                <a:solidFill>
                  <a:srgbClr val="2C3E50"/>
                </a:solidFill>
                <a:latin typeface="Arial"/>
              </a:rPr>
              <a:t>Sign up for sports &amp; cultural events (gated by flat eligibility check).</a:t>
            </a:r>
          </a:p>
          <a:p>
            <a:pPr lvl="1">
              <a:spcAft>
                <a:spcPts val="1400"/>
              </a:spcAft>
            </a:pPr>
            <a:r>
              <a:rPr b="1" sz="2000">
                <a:solidFill>
                  <a:srgbClr val="6C63FF"/>
                </a:solidFill>
                <a:latin typeface="Arial"/>
              </a:rPr>
              <a:t>Confirmations &amp; Receipts: </a:t>
            </a:r>
            <a:r>
              <a:rPr sz="1800">
                <a:solidFill>
                  <a:srgbClr val="2C3E50"/>
                </a:solidFill>
                <a:latin typeface="Arial"/>
              </a:rPr>
              <a:t>Securely download contribution statements.</a:t>
            </a:r>
          </a:p>
        </p:txBody>
      </p:sp>
      <p:sp>
        <p:nvSpPr>
          <p:cNvPr id="5" name="TextBox 4"/>
          <p:cNvSpPr txBox="1"/>
          <p:nvPr/>
        </p:nvSpPr>
        <p:spPr>
          <a:xfrm>
            <a:off x="6382512" y="1645920"/>
            <a:ext cx="5120640" cy="4572000"/>
          </a:xfrm>
          <a:prstGeom prst="rect">
            <a:avLst/>
          </a:prstGeom>
          <a:noFill/>
        </p:spPr>
        <p:txBody>
          <a:bodyPr wrap="square">
            <a:spAutoFit/>
          </a:bodyPr>
          <a:lstStyle/>
          <a:p>
            <a:pPr>
              <a:spcAft>
                <a:spcPts val="1400"/>
              </a:spcAft>
              <a:defRPr sz="2200" b="1">
                <a:solidFill>
                  <a:srgbClr val="4ECDC4"/>
                </a:solidFill>
                <a:latin typeface="Georgia"/>
              </a:defRPr>
            </a:pPr>
            <a:r>
              <a:t>ORGANIZERS CONSOLE</a:t>
            </a:r>
          </a:p>
          <a:p>
            <a:pPr lvl="1">
              <a:spcAft>
                <a:spcPts val="1400"/>
              </a:spcAft>
            </a:pPr>
            <a:r>
              <a:rPr b="1" sz="2000">
                <a:solidFill>
                  <a:srgbClr val="6C63FF"/>
                </a:solidFill>
                <a:latin typeface="Arial"/>
              </a:rPr>
              <a:t>Admin Bootstrap: </a:t>
            </a:r>
            <a:r>
              <a:rPr sz="1800">
                <a:solidFill>
                  <a:srgbClr val="2C3E50"/>
                </a:solidFill>
                <a:latin typeface="Arial"/>
              </a:rPr>
              <a:t>Admin manages team onboarding (Core Team, Wing Commanders, Wing Captains).</a:t>
            </a:r>
          </a:p>
          <a:p>
            <a:pPr lvl="1">
              <a:spcAft>
                <a:spcPts val="1400"/>
              </a:spcAft>
            </a:pPr>
            <a:r>
              <a:rPr b="1" sz="2000">
                <a:solidFill>
                  <a:srgbClr val="6C63FF"/>
                </a:solidFill>
                <a:latin typeface="Arial"/>
              </a:rPr>
              <a:t>Contributions Override: </a:t>
            </a:r>
            <a:r>
              <a:rPr sz="1800">
                <a:solidFill>
                  <a:srgbClr val="2C3E50"/>
                </a:solidFill>
                <a:latin typeface="Arial"/>
              </a:rPr>
              <a:t>Log cash or online flat payments securely.</a:t>
            </a:r>
          </a:p>
          <a:p>
            <a:pPr lvl="1">
              <a:spcAft>
                <a:spcPts val="1400"/>
              </a:spcAft>
            </a:pPr>
            <a:r>
              <a:rPr b="1" sz="2000">
                <a:solidFill>
                  <a:srgbClr val="6C63FF"/>
                </a:solidFill>
                <a:latin typeface="Arial"/>
              </a:rPr>
              <a:t>Expense Approval Board: </a:t>
            </a:r>
            <a:r>
              <a:rPr sz="1800">
                <a:solidFill>
                  <a:srgbClr val="2C3E50"/>
                </a:solidFill>
                <a:latin typeface="Arial"/>
              </a:rPr>
              <a:t>Approve vendor quotes and bills based on budget limits.</a:t>
            </a:r>
          </a:p>
          <a:p>
            <a:pPr lvl="1">
              <a:spcAft>
                <a:spcPts val="1400"/>
              </a:spcAft>
            </a:pPr>
            <a:r>
              <a:rPr b="1" sz="2000">
                <a:solidFill>
                  <a:srgbClr val="6C63FF"/>
                </a:solidFill>
                <a:latin typeface="Arial"/>
              </a:rPr>
              <a:t>Tournament Scoreboard: </a:t>
            </a:r>
            <a:r>
              <a:rPr sz="1800">
                <a:solidFill>
                  <a:srgbClr val="2C3E50"/>
                </a:solidFill>
                <a:latin typeface="Arial"/>
              </a:rPr>
              <a:t>Log match results, generate schedules, and update lead stands.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DF9"/>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sz="3600" b="1">
                <a:solidFill>
                  <a:srgbClr val="6C63FF"/>
                </a:solidFill>
                <a:latin typeface="Georgia"/>
              </a:defRPr>
            </a:pPr>
            <a:r>
              <a:t>Bootstrap &amp; Onboarding Lifecycle</a:t>
            </a:r>
          </a:p>
        </p:txBody>
      </p:sp>
      <p:sp>
        <p:nvSpPr>
          <p:cNvPr id="3" name="Rectangle 2"/>
          <p:cNvSpPr/>
          <p:nvPr/>
        </p:nvSpPr>
        <p:spPr>
          <a:xfrm>
            <a:off x="685800" y="1188720"/>
            <a:ext cx="10817352" cy="36576"/>
          </a:xfrm>
          <a:prstGeom prst="rect">
            <a:avLst/>
          </a:prstGeom>
          <a:solidFill>
            <a:srgbClr val="4ECDC4"/>
          </a:solidFill>
          <a:ln>
            <a:solidFill>
              <a:srgbClr val="4ECD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45920"/>
            <a:ext cx="10817352" cy="4572000"/>
          </a:xfrm>
          <a:prstGeom prst="rect">
            <a:avLst/>
          </a:prstGeom>
          <a:noFill/>
        </p:spPr>
        <p:txBody>
          <a:bodyPr wrap="square">
            <a:spAutoFit/>
          </a:bodyPr>
          <a:lstStyle/>
          <a:p>
            <a:pPr>
              <a:spcAft>
                <a:spcPts val="1400"/>
              </a:spcAft>
            </a:pPr>
            <a:r>
              <a:rPr b="1" sz="2000">
                <a:solidFill>
                  <a:srgbClr val="6C63FF"/>
                </a:solidFill>
                <a:latin typeface="Arial"/>
              </a:rPr>
              <a:t>Phase 1: Admin Onboard Organizers: </a:t>
            </a:r>
            <a:r>
              <a:rPr sz="1800">
                <a:solidFill>
                  <a:srgbClr val="2C3E50"/>
                </a:solidFill>
                <a:latin typeface="Arial"/>
              </a:rPr>
              <a:t>SCOT Admin logs in to register committee members (Core Team, Wing Commanders, Wing Captains, Event Champions) and assigns their wing boundaries.</a:t>
            </a:r>
          </a:p>
          <a:p>
            <a:pPr>
              <a:spcAft>
                <a:spcPts val="1400"/>
              </a:spcAft>
            </a:pPr>
            <a:r>
              <a:rPr b="1" sz="2000">
                <a:solidFill>
                  <a:srgbClr val="6C63FF"/>
                </a:solidFill>
                <a:latin typeface="Arial"/>
              </a:rPr>
              <a:t>Phase 2: Organizer Onboard Residents: </a:t>
            </a:r>
            <a:r>
              <a:rPr sz="1800">
                <a:solidFill>
                  <a:srgbClr val="2C3E50"/>
                </a:solidFill>
                <a:latin typeface="Arial"/>
              </a:rPr>
              <a:t>Wing Commanders and Wing Captains onboard residents (Home Chiefs, Home Members) in their specific wings and assign them to physical flats.</a:t>
            </a:r>
          </a:p>
          <a:p>
            <a:pPr>
              <a:spcAft>
                <a:spcPts val="1400"/>
              </a:spcAft>
            </a:pPr>
            <a:r>
              <a:rPr b="1" sz="2000">
                <a:solidFill>
                  <a:srgbClr val="FF6F61"/>
                </a:solidFill>
                <a:latin typeface="Arial"/>
              </a:rPr>
              <a:t>Supabase Database Onboarding Trigger: </a:t>
            </a:r>
            <a:r>
              <a:rPr sz="1800">
                <a:solidFill>
                  <a:srgbClr val="2C3E50"/>
                </a:solidFill>
                <a:latin typeface="Arial"/>
              </a:rPr>
              <a:t>Signups use phone-only OTP auth. When a user first enters the app, their profile is automatically generated and linked to their flat from the admin metadata claims.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DF9"/>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sz="3600" b="1">
                <a:solidFill>
                  <a:srgbClr val="6C63FF"/>
                </a:solidFill>
                <a:latin typeface="Georgia"/>
              </a:defRPr>
            </a:pPr>
            <a:r>
              <a:t>Financial Operations &amp; Ledger Guardrails</a:t>
            </a:r>
          </a:p>
        </p:txBody>
      </p:sp>
      <p:sp>
        <p:nvSpPr>
          <p:cNvPr id="3" name="Rectangle 2"/>
          <p:cNvSpPr/>
          <p:nvPr/>
        </p:nvSpPr>
        <p:spPr>
          <a:xfrm>
            <a:off x="685800" y="1188720"/>
            <a:ext cx="10817352" cy="36576"/>
          </a:xfrm>
          <a:prstGeom prst="rect">
            <a:avLst/>
          </a:prstGeom>
          <a:solidFill>
            <a:srgbClr val="4ECDC4"/>
          </a:solidFill>
          <a:ln>
            <a:solidFill>
              <a:srgbClr val="4ECD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45920"/>
            <a:ext cx="10817352" cy="4572000"/>
          </a:xfrm>
          <a:prstGeom prst="rect">
            <a:avLst/>
          </a:prstGeom>
          <a:noFill/>
        </p:spPr>
        <p:txBody>
          <a:bodyPr wrap="square">
            <a:spAutoFit/>
          </a:bodyPr>
          <a:lstStyle/>
          <a:p>
            <a:pPr>
              <a:spcAft>
                <a:spcPts val="1400"/>
              </a:spcAft>
            </a:pPr>
            <a:r>
              <a:rPr b="1" sz="2000">
                <a:solidFill>
                  <a:srgbClr val="6C63FF"/>
                </a:solidFill>
                <a:latin typeface="Arial"/>
              </a:rPr>
              <a:t>Phase 3: Record Flat Contribution: </a:t>
            </a:r>
            <a:r>
              <a:rPr sz="1800">
                <a:solidFill>
                  <a:srgbClr val="2C3E50"/>
                </a:solidFill>
                <a:latin typeface="Arial"/>
              </a:rPr>
              <a:t>Wing Commanders log flat contributions. Once recorded, the flat is marked as 'PAID', and residents of that flat are instantly unlocked to register for events.</a:t>
            </a:r>
          </a:p>
          <a:p>
            <a:pPr>
              <a:spcAft>
                <a:spcPts val="1400"/>
              </a:spcAft>
            </a:pPr>
            <a:r>
              <a:rPr b="1" sz="2000">
                <a:solidFill>
                  <a:srgbClr val="6C63FF"/>
                </a:solidFill>
                <a:latin typeface="Arial"/>
              </a:rPr>
              <a:t>Phase 4: Expense Approvals Board: </a:t>
            </a:r>
            <a:r>
              <a:rPr sz="1800">
                <a:solidFill>
                  <a:srgbClr val="2C3E50"/>
                </a:solidFill>
                <a:latin typeface="Arial"/>
              </a:rPr>
              <a:t>Core Team members upload vendor invoices or quotations. The app routes approval requests dynamically based on financial thresholds:</a:t>
            </a:r>
          </a:p>
          <a:p>
            <a:pPr lvl="1">
              <a:spcAft>
                <a:spcPts val="1400"/>
              </a:spcAft>
            </a:pPr>
            <a:r>
              <a:rPr b="1" sz="2000">
                <a:solidFill>
                  <a:srgbClr val="6C63FF"/>
                </a:solidFill>
                <a:latin typeface="Arial"/>
              </a:rPr>
              <a:t>Low-tier Expense (&lt; ₹5,000): </a:t>
            </a:r>
            <a:r>
              <a:rPr sz="1800">
                <a:solidFill>
                  <a:srgbClr val="2C3E50"/>
                </a:solidFill>
                <a:latin typeface="Arial"/>
              </a:rPr>
              <a:t>Automatically approved by the system.</a:t>
            </a:r>
          </a:p>
          <a:p>
            <a:pPr lvl="1">
              <a:spcAft>
                <a:spcPts val="1400"/>
              </a:spcAft>
            </a:pPr>
            <a:r>
              <a:rPr b="1" sz="2000">
                <a:solidFill>
                  <a:srgbClr val="6C63FF"/>
                </a:solidFill>
                <a:latin typeface="Arial"/>
              </a:rPr>
              <a:t>Mid-tier Expense (₹5,000 to ₹25,000): </a:t>
            </a:r>
            <a:r>
              <a:rPr sz="1800">
                <a:solidFill>
                  <a:srgbClr val="2C3E50"/>
                </a:solidFill>
                <a:latin typeface="Arial"/>
              </a:rPr>
              <a:t>Requires a review and signature from one Core Team member.</a:t>
            </a:r>
          </a:p>
          <a:p>
            <a:pPr lvl="1">
              <a:spcAft>
                <a:spcPts val="1400"/>
              </a:spcAft>
            </a:pPr>
            <a:r>
              <a:rPr b="1" sz="2000">
                <a:solidFill>
                  <a:srgbClr val="6C63FF"/>
                </a:solidFill>
                <a:latin typeface="Arial"/>
              </a:rPr>
              <a:t>High-tier Expense (&gt; ₹25,000): </a:t>
            </a:r>
            <a:r>
              <a:rPr sz="1800">
                <a:solidFill>
                  <a:srgbClr val="2C3E50"/>
                </a:solidFill>
                <a:latin typeface="Arial"/>
              </a:rPr>
              <a:t>Requires review and signatures from two unique Core Team members.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DF9"/>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sz="3600" b="1">
                <a:solidFill>
                  <a:srgbClr val="6C63FF"/>
                </a:solidFill>
                <a:latin typeface="Georgia"/>
              </a:defRPr>
            </a:pPr>
            <a:r>
              <a:t>Competition &amp; Tournament Scoring Engine</a:t>
            </a:r>
          </a:p>
        </p:txBody>
      </p:sp>
      <p:sp>
        <p:nvSpPr>
          <p:cNvPr id="3" name="Rectangle 2"/>
          <p:cNvSpPr/>
          <p:nvPr/>
        </p:nvSpPr>
        <p:spPr>
          <a:xfrm>
            <a:off x="685800" y="1188720"/>
            <a:ext cx="10817352" cy="36576"/>
          </a:xfrm>
          <a:prstGeom prst="rect">
            <a:avLst/>
          </a:prstGeom>
          <a:solidFill>
            <a:srgbClr val="4ECDC4"/>
          </a:solidFill>
          <a:ln>
            <a:solidFill>
              <a:srgbClr val="4ECD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45920"/>
            <a:ext cx="10817352" cy="4572000"/>
          </a:xfrm>
          <a:prstGeom prst="rect">
            <a:avLst/>
          </a:prstGeom>
          <a:noFill/>
        </p:spPr>
        <p:txBody>
          <a:bodyPr wrap="square">
            <a:spAutoFit/>
          </a:bodyPr>
          <a:lstStyle/>
          <a:p>
            <a:pPr>
              <a:spcAft>
                <a:spcPts val="1400"/>
              </a:spcAft>
            </a:pPr>
            <a:r>
              <a:rPr b="1" sz="2000">
                <a:solidFill>
                  <a:srgbClr val="6C63FF"/>
                </a:solidFill>
                <a:latin typeface="Arial"/>
              </a:rPr>
              <a:t>Automated Match Scheduler: </a:t>
            </a:r>
            <a:r>
              <a:rPr sz="1800">
                <a:solidFill>
                  <a:srgbClr val="2C3E50"/>
                </a:solidFill>
                <a:latin typeface="Arial"/>
              </a:rPr>
              <a:t>Programmatically generates Round Robin fixtures using the Circle Method, and handles Knockout brackets with power-of-two byes.</a:t>
            </a:r>
          </a:p>
          <a:p>
            <a:pPr>
              <a:spcAft>
                <a:spcPts val="1400"/>
              </a:spcAft>
            </a:pPr>
            <a:r>
              <a:rPr b="1" sz="2000">
                <a:solidFill>
                  <a:srgbClr val="6C63FF"/>
                </a:solidFill>
                <a:latin typeface="Arial"/>
              </a:rPr>
              <a:t>Dynamic Scoring Configuration: </a:t>
            </a:r>
            <a:r>
              <a:rPr sz="1800">
                <a:solidFill>
                  <a:srgbClr val="2C3E50"/>
                </a:solidFill>
                <a:latin typeface="Arial"/>
              </a:rPr>
              <a:t>Win, Draw, Loss points, and tie-breaker criteria (e.g. head-to-head, participation counts) are configurable per competition.</a:t>
            </a:r>
          </a:p>
          <a:p>
            <a:pPr>
              <a:spcAft>
                <a:spcPts val="1400"/>
              </a:spcAft>
            </a:pPr>
            <a:r>
              <a:rPr b="1" sz="2000">
                <a:solidFill>
                  <a:srgbClr val="6C63FF"/>
                </a:solidFill>
                <a:latin typeface="Arial"/>
              </a:rPr>
              <a:t>Transaction-Safe Recording: </a:t>
            </a:r>
            <a:r>
              <a:rPr sz="1800">
                <a:solidFill>
                  <a:srgbClr val="2C3E50"/>
                </a:solidFill>
                <a:latin typeface="Arial"/>
              </a:rPr>
              <a:t>Event Champions submit scores directly in the app. The system checks walkovers, splits points for ties, and updates standings atomically.</a:t>
            </a:r>
          </a:p>
          <a:p>
            <a:pPr>
              <a:spcAft>
                <a:spcPts val="1400"/>
              </a:spcAft>
            </a:pPr>
            <a:r>
              <a:rPr b="1" sz="2000">
                <a:solidFill>
                  <a:srgbClr val="FF6F61"/>
                </a:solidFill>
                <a:latin typeface="Arial"/>
              </a:rPr>
              <a:t>Participation Caps (Scenario B): </a:t>
            </a:r>
            <a:r>
              <a:rPr sz="1800">
                <a:solidFill>
                  <a:srgbClr val="2C3E50"/>
                </a:solidFill>
                <a:latin typeface="Arial"/>
              </a:rPr>
              <a:t>Imposes point limits per Wing to reward diverse participation, preventing a single wing from dominating based on team size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DF9"/>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sz="3600" b="1">
                <a:solidFill>
                  <a:srgbClr val="6C63FF"/>
                </a:solidFill>
                <a:latin typeface="Georgia"/>
              </a:defRPr>
            </a:pPr>
            <a:r>
              <a:t>Non-Technical Safety &amp; Security Guards</a:t>
            </a:r>
          </a:p>
        </p:txBody>
      </p:sp>
      <p:sp>
        <p:nvSpPr>
          <p:cNvPr id="3" name="Rectangle 2"/>
          <p:cNvSpPr/>
          <p:nvPr/>
        </p:nvSpPr>
        <p:spPr>
          <a:xfrm>
            <a:off x="685800" y="1188720"/>
            <a:ext cx="10817352" cy="36576"/>
          </a:xfrm>
          <a:prstGeom prst="rect">
            <a:avLst/>
          </a:prstGeom>
          <a:solidFill>
            <a:srgbClr val="4ECDC4"/>
          </a:solidFill>
          <a:ln>
            <a:solidFill>
              <a:srgbClr val="4ECD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45920"/>
            <a:ext cx="10817352" cy="4572000"/>
          </a:xfrm>
          <a:prstGeom prst="rect">
            <a:avLst/>
          </a:prstGeom>
          <a:noFill/>
        </p:spPr>
        <p:txBody>
          <a:bodyPr wrap="square">
            <a:spAutoFit/>
          </a:bodyPr>
          <a:lstStyle/>
          <a:p>
            <a:pPr>
              <a:spcAft>
                <a:spcPts val="1400"/>
              </a:spcAft>
            </a:pPr>
            <a:r>
              <a:rPr b="1" sz="2000">
                <a:solidFill>
                  <a:srgbClr val="FF6F61"/>
                </a:solidFill>
                <a:latin typeface="Arial"/>
              </a:rPr>
              <a:t>Row-Level Security (RLS) Isolation: </a:t>
            </a:r>
            <a:r>
              <a:rPr sz="1800">
                <a:solidFill>
                  <a:srgbClr val="2C3E50"/>
                </a:solidFill>
                <a:latin typeface="Arial"/>
              </a:rPr>
              <a:t>Residents can only view flat payments and profiles inside their own flat. Wing Commanders and Captains can only view or manage residents within their assigned wing. No one can snoops on other wings.</a:t>
            </a:r>
          </a:p>
          <a:p>
            <a:pPr>
              <a:spcAft>
                <a:spcPts val="1400"/>
              </a:spcAft>
            </a:pPr>
            <a:r>
              <a:rPr b="1" sz="2000">
                <a:solidFill>
                  <a:srgbClr val="FF6F61"/>
                </a:solidFill>
                <a:latin typeface="Arial"/>
              </a:rPr>
              <a:t>Financial Auditing Trigger: </a:t>
            </a:r>
            <a:r>
              <a:rPr sz="1800">
                <a:solidFill>
                  <a:srgbClr val="2C3E50"/>
                </a:solidFill>
                <a:latin typeface="Arial"/>
              </a:rPr>
              <a:t>Every manual contribution update or payment override is automatically recorded in an immutable ledger (finance.audit_log) showing exactly who modified the state, when, and the amount.</a:t>
            </a:r>
          </a:p>
          <a:p>
            <a:pPr>
              <a:spcAft>
                <a:spcPts val="1400"/>
              </a:spcAft>
            </a:pPr>
            <a:r>
              <a:rPr b="1" sz="2000">
                <a:solidFill>
                  <a:srgbClr val="6C63FF"/>
                </a:solidFill>
                <a:latin typeface="Arial"/>
              </a:rPr>
              <a:t>Authorized Database Access: </a:t>
            </a:r>
            <a:r>
              <a:rPr sz="1800">
                <a:solidFill>
                  <a:srgbClr val="2C3E50"/>
                </a:solidFill>
                <a:latin typeface="Arial"/>
              </a:rPr>
              <a:t>Critical procedures (like record_payment or approve_expense) run internal role checks. A user attempting to bypass the front-end code is blocked by the database layer.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DF9"/>
        </a:solidFill>
        <a:effectLst/>
      </p:bgPr>
    </p:bg>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sz="3600" b="1">
                <a:solidFill>
                  <a:srgbClr val="6C63FF"/>
                </a:solidFill>
                <a:latin typeface="Georgia"/>
              </a:defRPr>
            </a:pPr>
            <a:r>
              <a:t>Outstanding Targets &amp; Future Roadmap</a:t>
            </a:r>
          </a:p>
        </p:txBody>
      </p:sp>
      <p:sp>
        <p:nvSpPr>
          <p:cNvPr id="3" name="Rectangle 2"/>
          <p:cNvSpPr/>
          <p:nvPr/>
        </p:nvSpPr>
        <p:spPr>
          <a:xfrm>
            <a:off x="685800" y="1188720"/>
            <a:ext cx="10817352" cy="36576"/>
          </a:xfrm>
          <a:prstGeom prst="rect">
            <a:avLst/>
          </a:prstGeom>
          <a:solidFill>
            <a:srgbClr val="4ECDC4"/>
          </a:solidFill>
          <a:ln>
            <a:solidFill>
              <a:srgbClr val="4ECD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45920"/>
            <a:ext cx="10817352" cy="4572000"/>
          </a:xfrm>
          <a:prstGeom prst="rect">
            <a:avLst/>
          </a:prstGeom>
          <a:noFill/>
        </p:spPr>
        <p:txBody>
          <a:bodyPr wrap="square">
            <a:spAutoFit/>
          </a:bodyPr>
          <a:lstStyle/>
          <a:p>
            <a:pPr>
              <a:spcAft>
                <a:spcPts val="1400"/>
              </a:spcAft>
            </a:pPr>
            <a:r>
              <a:rPr b="1" sz="2000">
                <a:solidFill>
                  <a:srgbClr val="6C63FF"/>
                </a:solidFill>
                <a:latin typeface="Arial"/>
              </a:rPr>
              <a:t>Real-Time Push Notifications: </a:t>
            </a:r>
            <a:r>
              <a:rPr sz="1800">
                <a:solidFill>
                  <a:srgbClr val="2C3E50"/>
                </a:solidFill>
                <a:latin typeface="Arial"/>
              </a:rPr>
              <a:t>Broadcasting announcements, payment reminders, match timings, and live score updates to residents.</a:t>
            </a:r>
          </a:p>
          <a:p>
            <a:pPr>
              <a:spcAft>
                <a:spcPts val="1400"/>
              </a:spcAft>
            </a:pPr>
            <a:r>
              <a:rPr b="1" sz="2000">
                <a:solidFill>
                  <a:srgbClr val="6C63FF"/>
                </a:solidFill>
                <a:latin typeface="Arial"/>
              </a:rPr>
              <a:t>Google Drive Media Gallery: </a:t>
            </a:r>
            <a:r>
              <a:rPr sz="1800">
                <a:solidFill>
                  <a:srgbClr val="2C3E50"/>
                </a:solidFill>
                <a:latin typeface="Arial"/>
              </a:rPr>
              <a:t>Uploading and streaming high-resolution tournament photos and cultural event videos directly from a shared society Google Drive space.</a:t>
            </a:r>
          </a:p>
          <a:p>
            <a:pPr>
              <a:spcAft>
                <a:spcPts val="1400"/>
              </a:spcAft>
            </a:pPr>
            <a:r>
              <a:rPr b="1" sz="2000">
                <a:solidFill>
                  <a:srgbClr val="6C63FF"/>
                </a:solidFill>
                <a:latin typeface="Arial"/>
              </a:rPr>
              <a:t>Secure Voting Polls: </a:t>
            </a:r>
            <a:r>
              <a:rPr sz="1800">
                <a:solidFill>
                  <a:srgbClr val="2C3E50"/>
                </a:solidFill>
                <a:latin typeface="Arial"/>
              </a:rPr>
              <a:t>Allows coordinators to publish polls for society resolutions, restricting voting to one vote per flat (Home Chief claim) to ensure democratic participation.</a:t>
            </a:r>
          </a:p>
          <a:p>
            <a:pPr>
              <a:spcAft>
                <a:spcPts val="1400"/>
              </a:spcAft>
            </a:pPr>
            <a:r>
              <a:rPr b="1" sz="2000">
                <a:solidFill>
                  <a:srgbClr val="6C63FF"/>
                </a:solidFill>
                <a:latin typeface="Arial"/>
              </a:rPr>
              <a:t>OCR-based Receipt Processing: </a:t>
            </a:r>
            <a:r>
              <a:rPr sz="1800">
                <a:solidFill>
                  <a:srgbClr val="2C3E50"/>
                </a:solidFill>
                <a:latin typeface="Arial"/>
              </a:rPr>
              <a:t>Enabling residents to upload bank payment screenshots and auto-extracting transaction reference IDs, dates, and amounts to prevent manual entry errors.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